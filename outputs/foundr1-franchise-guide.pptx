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7f6e0e19ed403d" /><Relationship Type="http://schemas.openxmlformats.org/officeDocument/2006/relationships/extended-properties" Target="/docProps/app.xml" Id="R0d8f539cdad745f3" /><Relationship Type="http://schemas.openxmlformats.org/officeDocument/2006/relationships/officeDocument" Target="/ppt/presentation.xml" Id="R195c1d4d55aa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a2aeeaf8df4c21"/>
  </p:sldMasterIdLst>
  <p:notesMasterIdLst>
    <p:notesMasterId xmlns:r="http://schemas.openxmlformats.org/officeDocument/2006/relationships" r:id="R509d324fdf8a42d1"/>
  </p:notesMasterIdLst>
  <p:sldIdLst>
    <p:sldId xmlns:r="http://schemas.openxmlformats.org/officeDocument/2006/relationships" id="256" r:id="Rdacebb0c5ca8406d"/>
    <p:sldId xmlns:r="http://schemas.openxmlformats.org/officeDocument/2006/relationships" id="257" r:id="R0d306b45f484494d"/>
    <p:sldId xmlns:r="http://schemas.openxmlformats.org/officeDocument/2006/relationships" id="258" r:id="R5120c11eca954a51"/>
    <p:sldId xmlns:r="http://schemas.openxmlformats.org/officeDocument/2006/relationships" id="259" r:id="Rabf399421e384b53"/>
    <p:sldId xmlns:r="http://schemas.openxmlformats.org/officeDocument/2006/relationships" id="260" r:id="Rc2d25ac80f244963"/>
    <p:sldId xmlns:r="http://schemas.openxmlformats.org/officeDocument/2006/relationships" id="261" r:id="R0f30727f016f4011"/>
    <p:sldId xmlns:r="http://schemas.openxmlformats.org/officeDocument/2006/relationships" id="262" r:id="Re052ae2733f84ff5"/>
    <p:sldId xmlns:r="http://schemas.openxmlformats.org/officeDocument/2006/relationships" id="263" r:id="R2fd4416f7f30461a"/>
    <p:sldId xmlns:r="http://schemas.openxmlformats.org/officeDocument/2006/relationships" id="264" r:id="R0ec79a84dbe443a5"/>
    <p:sldId xmlns:r="http://schemas.openxmlformats.org/officeDocument/2006/relationships" id="265" r:id="R1e69ba222ef34c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73d0028a354da6" /><Relationship Type="http://schemas.openxmlformats.org/officeDocument/2006/relationships/slideMaster" Target="/ppt/slideMasters/slideMaster1.xml" Id="R06a2aeeaf8df4c21" /><Relationship Type="http://schemas.openxmlformats.org/officeDocument/2006/relationships/notesMaster" Target="/ppt/notesMasters/notesMaster1.xml" Id="R509d324fdf8a42d1" /><Relationship Type="http://schemas.openxmlformats.org/officeDocument/2006/relationships/presProps" Target="/ppt/presProps.xml" Id="R318b0a5dc7d9439b" /><Relationship Type="http://schemas.openxmlformats.org/officeDocument/2006/relationships/tableStyles" Target="/ppt/tableStyles.xml" Id="Re136db202f054a9c" /><Relationship Type="http://schemas.openxmlformats.org/officeDocument/2006/relationships/slide" Target="/ppt/slides/slide1.xml" Id="Rdacebb0c5ca8406d" /><Relationship Type="http://schemas.openxmlformats.org/officeDocument/2006/relationships/slide" Target="/ppt/slides/slide2.xml" Id="R0d306b45f484494d" /><Relationship Type="http://schemas.openxmlformats.org/officeDocument/2006/relationships/slide" Target="/ppt/slides/slide3.xml" Id="R5120c11eca954a51" /><Relationship Type="http://schemas.openxmlformats.org/officeDocument/2006/relationships/slide" Target="/ppt/slides/slide4.xml" Id="Rabf399421e384b53" /><Relationship Type="http://schemas.openxmlformats.org/officeDocument/2006/relationships/slide" Target="/ppt/slides/slide5.xml" Id="Rc2d25ac80f244963" /><Relationship Type="http://schemas.openxmlformats.org/officeDocument/2006/relationships/slide" Target="/ppt/slides/slide6.xml" Id="R0f30727f016f4011" /><Relationship Type="http://schemas.openxmlformats.org/officeDocument/2006/relationships/slide" Target="/ppt/slides/slide7.xml" Id="Re052ae2733f84ff5" /><Relationship Type="http://schemas.openxmlformats.org/officeDocument/2006/relationships/slide" Target="/ppt/slides/slide8.xml" Id="R2fd4416f7f30461a" /><Relationship Type="http://schemas.openxmlformats.org/officeDocument/2006/relationships/slide" Target="/ppt/slides/slide9.xml" Id="R0ec79a84dbe443a5" /><Relationship Type="http://schemas.openxmlformats.org/officeDocument/2006/relationships/slide" Target="/ppt/slides/slide10.xml" Id="R1e69ba222ef34c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df1ba95936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9069441b74463" /><Relationship Type="http://schemas.openxmlformats.org/officeDocument/2006/relationships/notesMaster" Target="/ppt/notesMasters/notesMaster1.xml" Id="R0265e1ce0d2c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5ec94ed9f4a6d" /><Relationship Type="http://schemas.openxmlformats.org/officeDocument/2006/relationships/notesMaster" Target="/ppt/notesMasters/notesMaster1.xml" Id="R0cf74a13891b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76f9a271e944f6" /><Relationship Type="http://schemas.openxmlformats.org/officeDocument/2006/relationships/notesMaster" Target="/ppt/notesMasters/notesMaster1.xml" Id="R9f4124d62bf8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3ea8bacca4bfb" /><Relationship Type="http://schemas.openxmlformats.org/officeDocument/2006/relationships/notesMaster" Target="/ppt/notesMasters/notesMaster1.xml" Id="R42c04f12c26b44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a66aedc48c4d0a" /><Relationship Type="http://schemas.openxmlformats.org/officeDocument/2006/relationships/notesMaster" Target="/ppt/notesMasters/notesMaster1.xml" Id="R10bc933686de4c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5534c44efa4cac" /><Relationship Type="http://schemas.openxmlformats.org/officeDocument/2006/relationships/notesMaster" Target="/ppt/notesMasters/notesMaster1.xml" Id="R8268647ce02441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f51b1ba58c4a12" /><Relationship Type="http://schemas.openxmlformats.org/officeDocument/2006/relationships/notesMaster" Target="/ppt/notesMasters/notesMaster1.xml" Id="R3bff3bcfc0db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40fbec1d454500" /><Relationship Type="http://schemas.openxmlformats.org/officeDocument/2006/relationships/notesMaster" Target="/ppt/notesMasters/notesMaster1.xml" Id="R654a5f3e533148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5c7909d40a47c3" /><Relationship Type="http://schemas.openxmlformats.org/officeDocument/2006/relationships/notesMaster" Target="/ppt/notesMasters/notesMaster1.xml" Id="R952ca553606a49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17da1ac53148ae" /><Relationship Type="http://schemas.openxmlformats.org/officeDocument/2006/relationships/notesMaster" Target="/ppt/notesMasters/notesMaster1.xml" Id="Rac376c84af084c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164ad4d1747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fcfbd572c9408d" /><Relationship Type="http://schemas.openxmlformats.org/officeDocument/2006/relationships/slideLayout" Target="/ppt/slideLayouts/slideLayout1.xml" Id="Rd9eab003776e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ab003776e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12bde7aee4067" /><Relationship Type="http://schemas.openxmlformats.org/officeDocument/2006/relationships/notesSlide" Target="/ppt/notesSlides/notesSlide1.xml" Id="R4c75317fa9f4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858d5dc574e31" /><Relationship Type="http://schemas.openxmlformats.org/officeDocument/2006/relationships/notesSlide" Target="/ppt/notesSlides/notesSlide2.xml" Id="Rc3d13cdeffad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7738b9f446d8" /><Relationship Type="http://schemas.openxmlformats.org/officeDocument/2006/relationships/notesSlide" Target="/ppt/notesSlides/notesSlide3.xml" Id="R882c2f7e9e40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e39e90c564c3c" /><Relationship Type="http://schemas.openxmlformats.org/officeDocument/2006/relationships/notesSlide" Target="/ppt/notesSlides/notesSlide4.xml" Id="R22fe9fa8d65c4b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0a6c0f31248f0" /><Relationship Type="http://schemas.openxmlformats.org/officeDocument/2006/relationships/notesSlide" Target="/ppt/notesSlides/notesSlide5.xml" Id="R7ecd2a526dd2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9b52bf094405f" /><Relationship Type="http://schemas.openxmlformats.org/officeDocument/2006/relationships/notesSlide" Target="/ppt/notesSlides/notesSlide6.xml" Id="R59bf5d90501b4f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16220cbe64089" /><Relationship Type="http://schemas.openxmlformats.org/officeDocument/2006/relationships/notesSlide" Target="/ppt/notesSlides/notesSlide7.xml" Id="R379ae06e9da04d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307d69876427d" /><Relationship Type="http://schemas.openxmlformats.org/officeDocument/2006/relationships/notesSlide" Target="/ppt/notesSlides/notesSlide8.xml" Id="Rafe10cec72fe4b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4021700f94709" /><Relationship Type="http://schemas.openxmlformats.org/officeDocument/2006/relationships/notesSlide" Target="/ppt/notesSlides/notesSlide9.xml" Id="R04675365d16448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db8c487514c1f" /><Relationship Type="http://schemas.openxmlformats.org/officeDocument/2006/relationships/notesSlide" Target="/ppt/notesSlides/notesSlide10.xml" Id="Rbbaab0433e9641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CE4CC-D91D-456F-A859-31A89543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571500"/>
            <a:ext cx="4953000" cy="800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69708-BE4C-4B1D-9547-10F750B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E99C2-8758-44E7-93CE-72D75C07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1447800" cy="15240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DFD31-15AD-42B4-B5DE-733E653B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76200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9AC23-8BD3-44DE-9A17-CEE91396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1104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01145-7B08-4CB2-8C93-D3B37F5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647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B897C-B9E3-4B23-A090-F50BE26C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FOUNDR1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5546A-3F11-4276-9712-CFAA6727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38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Restaurant Franchise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7C0DF-16BA-4798-BB09-6FCBEE9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DEDE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DEDE5"/>
                </a:solidFill>
                <a:latin typeface="Aptos Display"/>
                <a:ea typeface="Aptos Display"/>
                <a:cs typeface="Aptos Display"/>
              </a:rPr>
              <a:t>餐饮品牌加盟说明资料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1DE44-4163-4FD6-9F8D-8CA5C1DC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DEDE5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DDEDE5"/>
                </a:solidFill>
                <a:latin typeface="Aptos"/>
                <a:ea typeface="Aptos"/>
                <a:cs typeface="Aptos"/>
              </a:rPr>
              <a:t>以品牌、菜单、供应链和 Foundr1 OS 为核心，为餐饮经营者提供可复制的开店与运营体系。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C6E16-9BD4-4ED5-A6DE-6E2782DE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D5C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D5C8"/>
                </a:solidFill>
                <a:latin typeface="Aptos"/>
                <a:ea typeface="Aptos"/>
                <a:cs typeface="Aptos"/>
              </a:rPr>
              <a:t>Customer-facing draft | 2026</a:t>
            </a:r>
          </a:p>
        </p:txBody>
      </p:sp>
    </p:spTree>
    <p:extLst>
      <p:ext uri="{BB962C8B-B14F-4D97-AF65-F5344CB8AC3E}">
        <p14:creationId xmlns:p14="http://schemas.microsoft.com/office/powerpoint/2010/main" val="1750913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548AF-2EDD-427F-9D4D-F75C214D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MARKET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C608F-E6CD-4371-BE52-2317C556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餐饮创业需要的不只是一个品牌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0A7BE-30FB-40AD-87E7-75533F08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加盟者真正购买的是降低试错成本的经营系统。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18C76-C14A-4029-8FB6-45C376B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43170-21FB-4EF6-BB7C-193C69C1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E483C-EFC7-460D-85A8-CAB7290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rPr>
              <a:t>品牌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37028-1A2E-4CC9-AF4C-768A145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顾客识别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D81AB-9FCF-43A5-809F-715E17E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7D75"/>
                </a:solidFill>
                <a:latin typeface="Aptos"/>
                <a:ea typeface="Aptos"/>
                <a:cs typeface="Aptos"/>
              </a:rPr>
              <a:t>统一视觉、菜单与体验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1427B-8481-4675-826E-26E5B7CF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037C0-DADA-4B0B-AD52-8B53D2A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6F9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F6F9F"/>
                </a:solidFill>
                <a:latin typeface="Aptos Display"/>
                <a:ea typeface="Aptos Display"/>
                <a:cs typeface="Aptos Display"/>
              </a:rPr>
              <a:t>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4372A-7A86-4410-B71D-F7620070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718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日常管理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A7532-DD11-4B13-AD6B-89C6F8D5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7D75"/>
                </a:solidFill>
                <a:latin typeface="Aptos"/>
                <a:ea typeface="Aptos"/>
                <a:cs typeface="Aptos"/>
              </a:rPr>
              <a:t>POS、Web予約、库存、培训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7587D-7D15-4CEF-936A-194F3544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94664-7F44-4885-AD86-5AB71556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9851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98519"/>
                </a:solidFill>
                <a:latin typeface="Aptos Display"/>
                <a:ea typeface="Aptos Display"/>
                <a:cs typeface="Aptos Display"/>
              </a:rPr>
              <a:t>供应链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1161D-239A-48D8-B532-1A8D3BE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品质稳定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8CFC1-E5D9-44F5-B340-7BD8F4A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7D75"/>
                </a:solidFill>
                <a:latin typeface="Aptos"/>
                <a:ea typeface="Aptos"/>
                <a:cs typeface="Aptos"/>
              </a:rPr>
              <a:t>原料、包材、采购标准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0722B-D523-4682-A631-91750A3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98D47-5A01-4AE9-8672-2730CB3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5B4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5B43"/>
                </a:solidFill>
                <a:latin typeface="Aptos Display"/>
                <a:ea typeface="Aptos Display"/>
                <a:cs typeface="Aptos Display"/>
              </a:rPr>
              <a:t>督导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1108E-B360-4194-A27E-74FCA063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718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持续改善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B2721-BF66-4277-831E-4C8C5073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766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7D75"/>
                </a:solidFill>
                <a:latin typeface="Aptos"/>
                <a:ea typeface="Aptos"/>
                <a:cs typeface="Aptos"/>
              </a:rPr>
              <a:t>数据诊断与运营支持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E7EF1-6665-49BF-A1F2-1777A12B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Foundr1 的加盟计划把这四件事合成一个可执行的门店经营 package。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022B6-6266-497B-8577-41941746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F7D75"/>
                </a:solidFill>
                <a:latin typeface="Aptos"/>
                <a:ea typeface="Aptos"/>
                <a:cs typeface="Aptos"/>
              </a:rPr>
              <a:t>参考：日本 FC 通常由商标使用、know-how 提供、持续指导援助和 royalty 构成。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BB029-A9B3-4981-A164-0C9E39E4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413FD-2D72-442A-B4E0-5AC16951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835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13A330-57B4-492B-AE4A-9C95A057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BRAND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4D2F5-2207-4E6B-B410-BB1E95A3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两条品牌线，覆盖不同消费场景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7703A-D636-4A97-B6CD-C8BB2684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从轻投资外带到正餐型店铺，按城市、物件和经营团队选择模型。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95015-7DEA-4C74-8525-8CB49DE2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70587-468E-4DC0-8E81-17EB48DF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8101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2EF8-EA44-4047-8171-765D58A3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14D34-5BCB-407C-B479-0083D12B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435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nanacha milk tea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4AFCF-2CD9-49F8-BB47-943DF08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4352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奶茶、甜品、外带和 Web予約 友好的轻餐模型。适合商场、车站周边、学校/办公区、小面积街铺。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44280-F123-4233-881E-D88BAF60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8101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F12BC-66F7-453D-9754-11916667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333B1-80BE-4F2F-832C-46BFD48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38425"/>
            <a:ext cx="435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maamaa malatang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9148A-71AF-4C29-ADF5-F53AA416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00375"/>
            <a:ext cx="43529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麻辣烫/汤底 buildable 模型。强调客单价、复购、堂食与外带并行，适合餐饮聚集区和住宅商圈。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4476C-3FE9-46FE-8F4D-2160A959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共通后台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863B2-AC3A-410D-8F81-68B5B88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16B40-719B-4617-B926-69BB8BF4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482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33423A"/>
                </a:solidFill>
                <a:latin typeface="Aptos"/>
                <a:ea typeface="Aptos"/>
                <a:cs typeface="Aptos"/>
              </a:rPr>
              <a:t>菜单主数据统一管理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8514E-1615-4B53-90BF-DBB7BDB8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38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50859-636D-4A1F-B6D2-79D55E49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91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33423A"/>
                </a:solidFill>
                <a:latin typeface="Aptos"/>
                <a:ea typeface="Aptos"/>
                <a:cs typeface="Aptos"/>
              </a:rPr>
              <a:t>POS / KDS / Web予約 / 会员数据联动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45948-BD13-4B80-B234-FD72EC5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81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3AF28-7DD9-47E8-8A44-FF965A5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340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33423A"/>
                </a:solidFill>
                <a:latin typeface="Aptos"/>
                <a:ea typeface="Aptos"/>
                <a:cs typeface="Aptos"/>
              </a:rPr>
              <a:t>采购、库存、培训、检查表与经营分析接入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E3AC9-3137-4D4B-93EE-F60E8D28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24BC4-CFC6-4ED4-9E61-3825A59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8905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7F674-5264-4CAE-BC5F-85D82EF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VALUE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3508F-A70C-4361-A007-37016234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加盟 Foundr1，获得一套经营能力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548AC-DA71-4B5C-A62D-D5E2D64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不是只交付菜单，而是把开店后的每天怎么运营也放进体系里。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534A3-E0C1-451C-9B8D-A1A45112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9529A-4E5B-4635-878C-2C55D49D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3E6E5-7BEB-4002-9E6B-E45419D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AD210-F979-4877-8D3F-04664968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菜单与配方标准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9CCC9-B3EA-4243-AE55-4E5C729E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商品结构、选项、价格建议、季节菜单和更新节奏。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AEA7F-D0E6-4E6F-BAF0-182155D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762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F1561-C42A-40B5-A227-996E8A6A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67D90-BB30-4469-8B40-56CC744B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门店数字化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0160E-525C-4503-8726-062AF35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订单、厨房、会员、采购、库存、员工和报表统一在 Foundr1 OS。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2B333-519C-488B-B56A-0F2E2AF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762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1941C-B2DE-49BA-A148-8598E858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21DA3-0888-4D81-AB5F-B20A49D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开业与培训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B4C86-AEA1-47ED-A440-2B44B273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店长、厨房、前场、收银、Web予約、卫生和异常处理。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2E1C5-7CEE-4103-98A0-A451A02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762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D5D8C-0397-47BE-8B33-9BF40A11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4885F-3E6F-417A-9B8E-2A5EE4A9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持续改善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7FBDB-E8CB-4A20-92C7-87EA2F7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通过经营数据看销售、原価、人效、复购和执行质量。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03696-3FA4-442C-B484-607C62FF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AC10B-900B-42F0-BD2A-241A9D6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5923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89038-65BF-4329-BB7D-44DFE0A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OPENING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5CD67-8725-4044-82BC-652A33C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从选址到试营业，总部陪跑关键节点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876F9-4097-4217-BDA5-4C53261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加盟者保留独立经营主体，总部提供标准和支援。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79A8E-10AD-4821-AF1E-2C824A39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96746-F2F7-45FB-B4B8-CEEDD5AA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190750" cy="23622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72DE7-8DBE-4498-8955-2005C776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B2BBC-E42C-4816-9C4B-938614E0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商圈/物件判断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6DAA3-1C06-47E3-9E06-C163BC06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客流、面积、厨房条件、竞争环境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F702F-9D35-4C8A-8F50-948F6F86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2190750" cy="23622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F7FFB-31AD-47B9-8B86-9E4DA07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D26FF-23AA-4424-8783-F0B53EF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设计与设备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13BEE-72DB-4F1D-86C4-333D168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862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平面布局、厨房动线、设备/包材清单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A2455-B9D9-43CB-A8CA-743ABBE4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2190750" cy="23622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3FC6F-DDA9-4E99-84F4-AEC1F24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77268-60A8-4B13-A1C7-8F0B260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系统上线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D76C7-0F27-442A-B962-DED86E5C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POS、KDS、Web予約、菜单、会员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AF808-6E8A-473D-B068-EFC3B3DC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2190750" cy="23622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4501E-B3F9-424B-9795-9C30099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904E0-60C6-4CAF-9AE8-10774C2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培训试营业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22490-5279-4903-8B6E-618036F5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制作、接客、卫生、收银和首月复盘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EB864-BEF3-4F11-8056-1604C57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87E75-9513-42EE-96FB-CD853BA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7609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43EF6D-3C05-43B6-AE3C-1E2EF5F7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D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DE5"/>
                </a:solidFill>
                <a:latin typeface="Aptos"/>
                <a:ea typeface="Aptos"/>
                <a:cs typeface="Aptos"/>
              </a:rPr>
              <a:t>FOUNDR1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14174-203C-4D1F-AC0B-E75CD08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餐饮加盟的核心差异：总部能看见、门店能执行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B04D-4ACC-4F07-9D26-83B4296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DEDE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DDEDE5"/>
                </a:solidFill>
                <a:latin typeface="Aptos"/>
                <a:ea typeface="Aptos"/>
                <a:cs typeface="Aptos"/>
              </a:rPr>
              <a:t>所有加盟店使用统一后台，把菜单、订单、厨房、采购、库存、员工和训练沉淀成可追踪的数据。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F14B2-4A09-48C5-B9FB-DB99AB8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BF875-3D82-4D76-86B2-B841F6B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POS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144E7-9549-49C2-AEF6-77E9D78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4A79C-A7B8-4EE2-B58E-4572B5C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KDS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1FF31-8268-4632-99B7-0D5812E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CF550-6B9E-4BC1-ADC9-03011D40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Web予約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AAAF5-F595-4369-BE62-E95C5D3E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80105-2665-48BC-9BCE-006A1DD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会员/积分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60463-6A7D-4E67-B0BF-4596C4F5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92621-6935-4522-8663-3F8AE750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采购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EDA14-3A18-4A0A-8C4D-818B0D83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F981C-C038-45BA-A026-7A65871D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AEC4F-8FBE-4418-B00D-B988E63E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100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D9657-0D6F-40E2-BEA5-DDD993FD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Timecard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67290-D265-4F46-B577-762FCC2E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00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20DA6-0157-4BA6-B026-66A3F85C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培训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C6750-44D0-48C4-9596-B6034D2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CA9CC-B0AE-4093-88B4-EBBFB2F4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检查表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A8C17-89E5-4A14-BE16-90E1AC9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10000"/>
            <a:ext cx="165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DE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DE722-256C-485A-A286-08EB64D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经营分析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9E556-2257-43CA-824E-19C12CCE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DE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5239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DF6EE-7101-4409-B8D7-08380994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FEE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852A2-C4BA-41AD-B4B1-CEF98CE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费用结构：清晰、分阶段、可洽谈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E8436-5B9D-4D09-872A-BA9218E4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正式报价会根据品牌、店型、城市、物件和支持范围调整。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4B963-102E-4B2C-835E-6094102F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E5340-5BF3-4A00-BD57-4B339F5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9525">
            <a:solidFill>
              <a:srgbClr val="123C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36AB8-1EA8-4B7F-8495-9811DDC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AA641-ADA1-4188-9ACE-7CA1889F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9525">
            <a:solidFill>
              <a:srgbClr val="123C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65213-02D5-478B-A54E-6D0889D4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05075"/>
            <a:ext cx="455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354F1-3F2D-4875-86E8-0D53E262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9525">
            <a:solidFill>
              <a:srgbClr val="123C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AD4E1-10F5-4357-B546-A225C0A5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0507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参考范围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1FE81-0C9A-4768-9081-E02D2663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AF663-73C4-4144-93C4-F9FDD48B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23A"/>
                </a:solidFill>
                <a:latin typeface="Aptos"/>
                <a:ea typeface="Aptos"/>
                <a:cs typeface="Aptos"/>
              </a:rPr>
              <a:t>加盟金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09675-DC61-4AAF-8E0D-04AA668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F93F8-D10B-418E-81A6-4109526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622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23A"/>
                </a:solidFill>
                <a:latin typeface="Aptos"/>
                <a:ea typeface="Aptos"/>
                <a:cs typeface="Aptos"/>
              </a:rPr>
              <a:t>品牌使用、经营 know-how、开业资料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7823C-FF30-465E-89EE-BA626B3D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44AD0-0232-4843-B3F8-76EC2AA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622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200万〜400万日元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31D34-C935-425E-B4C8-571E5A8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8DE1B-BADC-447B-BAC5-1949E3E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23A"/>
                </a:solidFill>
                <a:latin typeface="Aptos"/>
                <a:ea typeface="Aptos"/>
                <a:cs typeface="Aptos"/>
              </a:rPr>
              <a:t>保证金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360BA-86F7-4F63-8EF2-5D0B9260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96037-DDEA-4FE7-8BC8-9E5AAC4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7662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23A"/>
                </a:solidFill>
                <a:latin typeface="Aptos"/>
                <a:ea typeface="Aptos"/>
                <a:cs typeface="Aptos"/>
              </a:rPr>
              <a:t>合同履行保证，按合同约定处理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08CA5-5A74-4588-9BB7-7653CFCF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0CD45-BCA5-4279-BA31-BF6FC75E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100万〜200万日元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2E33E-8FA9-4783-87F7-21E68BC3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212D86-49A0-4F61-A41A-248F9A2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23A"/>
                </a:solidFill>
                <a:latin typeface="Aptos"/>
                <a:ea typeface="Aptos"/>
                <a:cs typeface="Aptos"/>
              </a:rPr>
              <a:t>培训/开业支援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C7936-ECCD-4C2C-BAE4-A0541A2E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671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00115-4B1F-4B82-B92A-69855CB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909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23A"/>
                </a:solidFill>
                <a:latin typeface="Aptos"/>
                <a:ea typeface="Aptos"/>
                <a:cs typeface="Aptos"/>
              </a:rPr>
              <a:t>培训、系统设置、开业现场支援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0F00D-6BD1-429E-A78C-A67582BF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59EBD-B9AA-4FDB-8985-A5C54149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909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80万〜250万日元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87930-FFB5-4177-9911-2F8A89E6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A295E-0A09-4747-8BB8-D241C2BA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23A"/>
                </a:solidFill>
                <a:latin typeface="Aptos"/>
                <a:ea typeface="Aptos"/>
                <a:cs typeface="Aptos"/>
              </a:rPr>
              <a:t>月度 royalty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BE8C43-E7F8-4B41-BEB9-63643519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3A8CD1-F48F-419B-9264-BEE01CC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0532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23A"/>
                </a:solidFill>
                <a:latin typeface="Aptos"/>
                <a:ea typeface="Aptos"/>
                <a:cs typeface="Aptos"/>
              </a:rPr>
              <a:t>品牌与持续经营支持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CB285-924D-4914-B8BE-55F9451C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4BFB61-A8A6-4B13-881A-A0C087A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月売上 3%〜5%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44D4EA-D497-4495-86D7-CC8BFB9F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E5CF8-701E-4CB7-A689-71570C8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23A"/>
                </a:solidFill>
                <a:latin typeface="Aptos"/>
                <a:ea typeface="Aptos"/>
                <a:cs typeface="Aptos"/>
              </a:rPr>
              <a:t>Foundr1 OS 月费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04BE1C-A31E-48E9-8722-76E5CA75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9585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4FF206-C89E-479A-8974-E4F5905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96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23A"/>
                </a:solidFill>
                <a:latin typeface="Aptos"/>
                <a:ea typeface="Aptos"/>
                <a:cs typeface="Aptos"/>
              </a:rPr>
              <a:t>门店系统、菜单、数据和管理工具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556824-D68B-4481-BD1F-6E018E88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95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949605-FAB4-4C35-97BF-B82CA245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96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3万〜10万日元/月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936C40-1D78-4EE4-A922-229BEE1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9454A4-5EB2-40D5-AE85-807827C9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34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23A"/>
                </a:solidFill>
                <a:latin typeface="Aptos"/>
                <a:ea typeface="Aptos"/>
                <a:cs typeface="Aptos"/>
              </a:rPr>
              <a:t>广告/共同推广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AD4141-C215-4DC8-8189-84D013E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155999-3B87-4909-BEC0-9B28FE2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3402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23A"/>
                </a:solidFill>
                <a:latin typeface="Aptos"/>
                <a:ea typeface="Aptos"/>
                <a:cs typeface="Aptos"/>
              </a:rPr>
              <a:t>素材、活动、区域推广支持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B4F942-942B-4666-B2C6-98930820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10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108752-C9E0-4895-A880-39E84AC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3402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3C2B"/>
                </a:solidFill>
                <a:latin typeface="Aptos"/>
                <a:ea typeface="Aptos"/>
                <a:cs typeface="Aptos"/>
              </a:rPr>
              <a:t>月売上 1% 或固定月费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931F1B-E665-4C7D-83C7-FF5C890F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F7D75"/>
                </a:solidFill>
                <a:latin typeface="Aptos"/>
                <a:ea typeface="Aptos"/>
                <a:cs typeface="Aptos"/>
              </a:rPr>
              <a:t>※ 上記は検討用の参考レンジです。売上や利益を保証するものではありません。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CD500B-F4C6-4F61-8D62-DE79ABCA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08862E-15A2-4F3E-AEA4-1CA32EE9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8618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B30CB-4B54-4CDE-8782-349FC802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STORE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9DF29-3C26-4FF5-BCCF-115A3145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店型モデル：投資額と運営力に合わせて選択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9447A-4DC0-4CBA-B6DD-68532FD7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初回面談で候補エリアと物件条件を伺い、最適な形を一緒に設計します。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5967D-440E-49A3-854B-A77FF665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F4464-BB16-4EF4-BC8B-57EFABA0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C5AB-F873-4CC1-93DE-EE1695C4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6465B-1D5C-4E4E-90A4-976B540A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9AF0B-C583-422C-BB1C-BF5B2E15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2686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小型外带・低人員モデル</a:t>
            </a:r>
          </a:p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想定：nanacha / 甜品 / Web予約</a:t>
            </a:r>
          </a:p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総投資目安：700万〜1,200万日元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4C267-59BC-4F86-94D5-4524B26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5880C-8DE7-4E92-942F-5DC7AE8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F82BD-3C4C-4E58-9285-78978FD4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86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78D8A-327A-4B59-9889-3F4656D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48000"/>
            <a:ext cx="2686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標準店モデル</a:t>
            </a:r>
          </a:p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想定：nanacha 標準店 / maamaa 標準店</a:t>
            </a:r>
          </a:p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総投資目安：1,200万〜2,500万日元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82B0B-3426-449C-8AD1-F0AB9D4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DC2CF-40E5-4461-83B7-0767ADE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5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FDCE4-DCCA-4095-905E-E68EB6D4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0BD28-EDF4-4066-9F71-9B51631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6860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複合・旗艦店モデル</a:t>
            </a:r>
          </a:p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想定：複合ブランド / 広域集客型</a:t>
            </a:r>
          </a:p>
          <a:p xmlns:a="http://schemas.openxmlformats.org/drawingml/2006/main">
            <a:pPr>
              <a:defRPr sz="1200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33423A"/>
                </a:solidFill>
                <a:latin typeface="Aptos"/>
                <a:ea typeface="Aptos"/>
                <a:cs typeface="Aptos"/>
              </a:rPr>
              <a:t>総投資目安：2,000万〜3,500万日元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C771C-7CC1-4B67-8E46-80879100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F7D75"/>
                </a:solidFill>
                <a:latin typeface="Aptos"/>
                <a:ea typeface="Aptos"/>
                <a:cs typeface="Aptos"/>
              </a:rPr>
              <a:t>総投資には物件取得費、内装、設備、初期在庫、人件費準備金などを含む想定です。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F171C-6F74-4C71-AE04-3379C1E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C06EB-BE8E-4295-9C22-6E6A7A5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828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963FC-D04B-4660-8A19-CEBDB904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5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B43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E15B6-9CB8-4A90-A818-2F0B7755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31D"/>
                </a:solidFill>
                <a:latin typeface="Aptos Display"/>
                <a:ea typeface="Aptos Display"/>
                <a:cs typeface="Aptos Display"/>
              </a:rPr>
              <a:t>加盟検討から開業までの流れ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8A7AC-CCC2-4DEE-82F6-0373E17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F7D75"/>
                </a:solidFill>
                <a:latin typeface="Aptos"/>
                <a:ea typeface="Aptos"/>
                <a:cs typeface="Aptos"/>
              </a:rPr>
              <a:t>双方にとって無理のない条件か、面談と資料開示を通じて確認します。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5FEC5-7251-474E-9519-AABFE0E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5F0CF-88D0-49A0-A525-49B3A7D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CB9E6-B1CC-4395-9F6C-763F564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45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BB5A4-6EDD-4799-B359-C1D9462A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問い合わせ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A91BE-C2E9-4038-83E8-E108DAB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基本情報と希望エリアを確認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98A07-EAA6-4FC1-949F-F9360E8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4474B-2BFE-4E99-864A-F3D6818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48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27755-86DE-4873-8414-CF25E6F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71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個別面談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9B4F0-1DC0-46AE-A5C3-1BF83520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ブランド・店型・投資感をすり合わせ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7A32F-8172-4877-BE9D-7A6E1D7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4209B-881D-400B-9B3A-EA004623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38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DAF68-A686-4C49-8FEC-6042961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物件/事業計画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A0973-BF53-49FB-9935-ADF2C5A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候補物件、収支、支援範囲を検討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BBE7A-AFEB-44C3-A638-DDB62A04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7E576-FF91-433E-97A6-FE2E02B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29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44DB3-A4BC-45D0-8A91-88D9E15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契約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DD3CA-03F8-4651-9952-EF1013A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開示書面・契約内容を確認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57FEE-EB81-4AF1-931F-7BF8B6DD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97EA8-A74A-4BD3-B7C2-44927A9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196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8E44F-60DD-49C1-A772-4F3A8580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開業準備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BAFFD-4F72-477A-8900-6604F078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施工、採用、研修、システム設定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A5C21-6B4D-4CDB-A9D2-D7789E2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2ED08-6571-4F8A-B27A-5BE66B6B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410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B6D14-76A7-41C1-95DC-B0D89EE5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1D"/>
                </a:solidFill>
                <a:latin typeface="Aptos"/>
                <a:ea typeface="Aptos"/>
                <a:cs typeface="Aptos"/>
              </a:rPr>
              <a:t>開業後支援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AA03B7-EEE6-40D9-9D78-AC402CD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53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データ診断、品質確認、販促支援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3911D-A37D-40F1-928B-3F29E01A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F7D75"/>
                </a:solidFill>
                <a:latin typeface="Aptos"/>
                <a:ea typeface="Aptos"/>
                <a:cs typeface="Aptos"/>
              </a:rPr>
              <a:t>正式契約前に、法令・ガイドラインに沿った必要情報を開示し、内容をご説明します。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B7B81-0F7D-48C1-AC6C-C2283B7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D75"/>
                </a:solidFill>
                <a:latin typeface="Aptos"/>
                <a:ea typeface="Aptos"/>
                <a:cs typeface="Aptos"/>
              </a:rPr>
              <a:t>Foundr1 Restaurant Franchise Program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9083B-38E4-44B2-BE8F-C6EB51EE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36585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B49719-420C-48E2-8257-841AE57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FOUNDR1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DDF37-0ACB-4DC7-B470-D939D90B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まずは候補エリアと希望店型をお聞かせください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05C5B-40C6-4789-8B1C-A5793584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DEDE5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DEDE5"/>
                </a:solidFill>
                <a:latin typeface="Aptos"/>
                <a:ea typeface="Aptos"/>
                <a:cs typeface="Aptos"/>
              </a:rPr>
              <a:t>面談では、ブランド選択、投資規模、物件条件、開業までのスケジュール、支援範囲を整理します。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AF64E-F991-4D60-8DE1-951ED0FB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D9E2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2EFFA-FF18-42B2-A32B-66664B7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C2B"/>
                </a:solidFill>
                <a:latin typeface="Aptos Display"/>
                <a:ea typeface="Aptos Display"/>
                <a:cs typeface="Aptos Display"/>
              </a:rPr>
              <a:t>Contact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1B0D4-C372-4062-84E5-2FFDE53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Foundr1 Franchise Desk</a:t>
            </a:r>
          </a:p>
          <a:p xmlns:a="http://schemas.openxmlformats.org/drawingml/2006/main">
            <a:pPr>
              <a:defRPr sz="1275">
                <a:solidFill>
                  <a:srgbClr val="33423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3423A"/>
                </a:solidFill>
                <a:latin typeface="Aptos"/>
                <a:ea typeface="Aptos"/>
                <a:cs typeface="Aptos"/>
              </a:rPr>
              <a:t>foundr1.jp / franchise inquiry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1B763-A5E6-4321-B85A-799279DB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D5C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D5C8"/>
                </a:solidFill>
                <a:latin typeface="Aptos"/>
                <a:ea typeface="Aptos"/>
                <a:cs typeface="Aptos"/>
              </a:rPr>
              <a:t>本資料は検討用の概要資料です。正式な募集条件・契約条件は個別資料および契約書にてご確認ください。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0B699-67AA-41DE-A72C-E8B43126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DED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DE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1353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2026-06-17T03:32:39.2950000Z</dcterms:created>
  <dcterms:modified xsi:type="dcterms:W3CDTF">2026-06-17T03:32:39.2950000Z</dcterms:modified>
</coreProperties>
</file>